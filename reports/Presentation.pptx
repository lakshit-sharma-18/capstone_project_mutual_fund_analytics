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DM Sans Thin"/>
      <p:regular r:id="rId201314"/>
    </p:embeddedFont>
    <p:embeddedFont>
      <p:font typeface="DM Sans ExtraLight"/>
      <p:regular r:id="rId201315"/>
    </p:embeddedFont>
    <p:embeddedFont>
      <p:font typeface="DM Sans Light"/>
      <p:regular r:id="rId201316"/>
    </p:embeddedFont>
    <p:embeddedFont>
      <p:font typeface="DM Sans"/>
      <p:regular r:id="rId201317"/>
    </p:embeddedFont>
    <p:embeddedFont>
      <p:font typeface="DM Sans Medium"/>
      <p:regular r:id="rId201318"/>
    </p:embeddedFont>
    <p:embeddedFont>
      <p:font typeface="DM Sans SemiBold"/>
      <p:regular r:id="rId201319"/>
    </p:embeddedFont>
    <p:embeddedFont>
      <p:font typeface="DM Sans Bold"/>
      <p:regular r:id="rId201320"/>
    </p:embeddedFont>
    <p:embeddedFont>
      <p:font typeface="DM Sans ExtraBold"/>
      <p:regular r:id="rId201321"/>
    </p:embeddedFont>
    <p:embeddedFont>
      <p:font typeface="DM Sans Black"/>
      <p:regular r:id="rId201322"/>
    </p:embeddedFont>
    <p:embeddedFont>
      <p:font typeface="Libre Baskerville"/>
      <p:regular r:id="rId201323"/>
    </p:embeddedFont>
    <p:embeddedFont>
      <p:font typeface="Libre Baskerville Bold"/>
      <p:regular r:id="rId2013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50294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Mutual Fund Analytics Capstone Project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601516"/>
            <a:ext cx="4722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Bluestock Fintech Internship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Presented by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Lakshit Sharma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Data Analytics Capstone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374082"/>
            <a:ext cx="1218902" cy="266402"/>
          </a:xfrm>
          <a:prstGeom prst="roundRect">
            <a:avLst>
              <a:gd name="adj" fmla="val 17880"/>
            </a:avLst>
          </a:prstGeom>
          <a:solidFill>
            <a:srgbClr val="F7EDD4"/>
          </a:solidFill>
          <a:ln/>
        </p:spPr>
      </p:sp>
      <p:sp>
        <p:nvSpPr>
          <p:cNvPr id="6" name="Shape 3"/>
          <p:cNvSpPr/>
          <p:nvPr/>
        </p:nvSpPr>
        <p:spPr>
          <a:xfrm>
            <a:off x="4010174" y="3450580"/>
            <a:ext cx="113407" cy="113407"/>
          </a:xfrm>
          <a:prstGeom prst="rect">
            <a:avLst/>
          </a:prstGeom>
          <a:solidFill>
            <a:srgbClr val="454240"/>
          </a:solidFill>
          <a:ln/>
        </p:spPr>
      </p:sp>
      <p:sp>
        <p:nvSpPr>
          <p:cNvPr id="7" name="Text 4"/>
          <p:cNvSpPr/>
          <p:nvPr/>
        </p:nvSpPr>
        <p:spPr>
          <a:xfrm>
            <a:off x="4180284" y="3416573"/>
            <a:ext cx="133588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ANALYTICS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214863" y="3374082"/>
            <a:ext cx="791766" cy="266402"/>
          </a:xfrm>
          <a:prstGeom prst="roundRect">
            <a:avLst>
              <a:gd name="adj" fmla="val 17880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b88e23">
                <a:alpha val="10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299918" y="3450580"/>
            <a:ext cx="113407" cy="113407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0" name="Text 7"/>
          <p:cNvSpPr/>
          <p:nvPr/>
        </p:nvSpPr>
        <p:spPr>
          <a:xfrm>
            <a:off x="5470029" y="3416573"/>
            <a:ext cx="90874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FINTECH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077471" y="3374082"/>
            <a:ext cx="1428601" cy="266402"/>
          </a:xfrm>
          <a:prstGeom prst="roundRect">
            <a:avLst>
              <a:gd name="adj" fmla="val 17880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b88e23">
                <a:alpha val="10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62526" y="3450580"/>
            <a:ext cx="113407" cy="113407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3" name="Text 10"/>
          <p:cNvSpPr/>
          <p:nvPr/>
        </p:nvSpPr>
        <p:spPr>
          <a:xfrm>
            <a:off x="6332637" y="3416573"/>
            <a:ext cx="154558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CAPSTONE PROJECT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03932"/>
            <a:ext cx="4722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Overview</a:t>
            </a:r>
            <a:endParaRPr lang="en-US" sz="25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092994"/>
            <a:ext cx="4722763" cy="116882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98227" y="1237952"/>
            <a:ext cx="437569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What is Mutual Fund Analytics?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698227" y="1514326"/>
            <a:ext cx="4375696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data-driven system that ingests, processes, and visualizes mutual fund performance metrics — enabling investors and analysts to make informed, evidence-based decisions.</a:t>
            </a:r>
            <a:endParaRPr lang="en-US" sz="10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382292"/>
            <a:ext cx="4722763" cy="116882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98227" y="2527250"/>
            <a:ext cx="437569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Problem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698227" y="2803624"/>
            <a:ext cx="4375696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Investors lack centralized, automated tools to track fund performance, compare risk-adjusted returns, and optimize portfolios — leading to suboptimal financial decisions.</a:t>
            </a:r>
            <a:endParaRPr lang="en-US" sz="10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671590"/>
            <a:ext cx="4722763" cy="96797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98227" y="3816548"/>
            <a:ext cx="437569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Goals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698227" y="4092922"/>
            <a:ext cx="4375696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an end-to-end analytics pipeline — from raw data extraction to an interactive dashboard — delivering actionable financial insights at scale.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2906"/>
            <a:ext cx="8151763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Objectives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96119" y="954212"/>
            <a:ext cx="8608963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Six core objectives span the full data analytics lifecycle — from ingestion to deployment.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96119" y="1235199"/>
            <a:ext cx="4027289" cy="1106984"/>
          </a:xfrm>
          <a:prstGeom prst="roundRect">
            <a:avLst>
              <a:gd name="adj" fmla="val 4454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8232" y="1357313"/>
            <a:ext cx="352202" cy="352202"/>
          </a:xfrm>
          <a:prstGeom prst="ellipse">
            <a:avLst/>
          </a:prstGeom>
          <a:solidFill>
            <a:srgbClr val="B88E2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5119" y="1454125"/>
            <a:ext cx="158428" cy="1584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8232" y="1806699"/>
            <a:ext cx="3783062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ETL Pipeline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18232" y="2048396"/>
            <a:ext cx="3783062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Automate extraction, transformation, and loading of fund data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620592" y="1235199"/>
            <a:ext cx="4027289" cy="1106984"/>
          </a:xfrm>
          <a:prstGeom prst="roundRect">
            <a:avLst>
              <a:gd name="adj" fmla="val 4454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42706" y="1357313"/>
            <a:ext cx="352202" cy="352202"/>
          </a:xfrm>
          <a:prstGeom prst="ellipse">
            <a:avLst/>
          </a:prstGeom>
          <a:solidFill>
            <a:srgbClr val="B88E2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39593" y="1454125"/>
            <a:ext cx="158428" cy="1584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42706" y="1806699"/>
            <a:ext cx="3783062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Design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742706" y="2048396"/>
            <a:ext cx="3783062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 a normalized schema for fund, NAV, and performance data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96119" y="2439367"/>
            <a:ext cx="4027289" cy="1106984"/>
          </a:xfrm>
          <a:prstGeom prst="roundRect">
            <a:avLst>
              <a:gd name="adj" fmla="val 4454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8232" y="2561481"/>
            <a:ext cx="352202" cy="352202"/>
          </a:xfrm>
          <a:prstGeom prst="ellipse">
            <a:avLst/>
          </a:prstGeom>
          <a:solidFill>
            <a:srgbClr val="B88E2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5119" y="2658294"/>
            <a:ext cx="158428" cy="1584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8232" y="3010867"/>
            <a:ext cx="3783062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Cleaning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618232" y="3252564"/>
            <a:ext cx="3783062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Handle nulls, duplicates, and inconsistencies at scale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620592" y="2439367"/>
            <a:ext cx="4027289" cy="1106984"/>
          </a:xfrm>
          <a:prstGeom prst="roundRect">
            <a:avLst>
              <a:gd name="adj" fmla="val 4454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742706" y="2561481"/>
            <a:ext cx="352202" cy="352202"/>
          </a:xfrm>
          <a:prstGeom prst="ellipse">
            <a:avLst/>
          </a:prstGeom>
          <a:solidFill>
            <a:srgbClr val="B88E2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39593" y="2658294"/>
            <a:ext cx="158428" cy="1584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42706" y="3010867"/>
            <a:ext cx="3783062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Financial Analytics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742706" y="3252564"/>
            <a:ext cx="3783062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Compute Sharpe, Sortino, Alpha, Beta, and drawdown metrics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496119" y="3643536"/>
            <a:ext cx="4027289" cy="1106984"/>
          </a:xfrm>
          <a:prstGeom prst="roundRect">
            <a:avLst>
              <a:gd name="adj" fmla="val 4454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18232" y="3765649"/>
            <a:ext cx="352202" cy="352202"/>
          </a:xfrm>
          <a:prstGeom prst="ellipse">
            <a:avLst/>
          </a:prstGeom>
          <a:solidFill>
            <a:srgbClr val="B88E2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5119" y="3862462"/>
            <a:ext cx="158428" cy="15842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18232" y="4215036"/>
            <a:ext cx="3783062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Dashboard Development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618232" y="4456733"/>
            <a:ext cx="3783062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an interactive Streamlit app for real-time insights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4620592" y="3643536"/>
            <a:ext cx="4027289" cy="1106984"/>
          </a:xfrm>
          <a:prstGeom prst="roundRect">
            <a:avLst>
              <a:gd name="adj" fmla="val 4454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742706" y="3765649"/>
            <a:ext cx="352202" cy="352202"/>
          </a:xfrm>
          <a:prstGeom prst="ellipse">
            <a:avLst/>
          </a:prstGeom>
          <a:solidFill>
            <a:srgbClr val="B88E23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39593" y="3862462"/>
            <a:ext cx="158428" cy="15842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742706" y="4215036"/>
            <a:ext cx="3783062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Deployment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4742706" y="4456733"/>
            <a:ext cx="3783062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Automate scheduling and deploy for continuous updates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Technology Stack</a:t>
            </a:r>
            <a:endParaRPr lang="en-US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380283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End-to-End Toolchain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532162"/>
            <a:ext cx="3986733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layer of the stack serves a distinct purpose — from raw data ingestion via </a:t>
            </a:r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MFAPI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automated scheduling with </a:t>
            </a:r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Windows Task Scheduler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Python anchors the processing layer with </a:t>
            </a:r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Pandas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</a:t>
            </a:r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NumPy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while </a:t>
            </a:r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SQLite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provides lightweight relational storage. </a:t>
            </a:r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Plotly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</a:t>
            </a:r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Streamlit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power the interactive front end, and </a:t>
            </a:r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Git/GitHub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ensures full version control and reproducibility throughout the project.</a:t>
            </a:r>
            <a:endParaRPr lang="en-US" sz="550" dirty="0"/>
          </a:p>
        </p:txBody>
      </p:sp>
      <p:sp>
        <p:nvSpPr>
          <p:cNvPr id="6" name="Shape 3"/>
          <p:cNvSpPr/>
          <p:nvPr/>
        </p:nvSpPr>
        <p:spPr>
          <a:xfrm>
            <a:off x="4665911" y="2928714"/>
            <a:ext cx="312911" cy="114672"/>
          </a:xfrm>
          <a:prstGeom prst="roundRect">
            <a:avLst>
              <a:gd name="adj" fmla="val 21419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b88e23">
                <a:alpha val="10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709740" y="2950592"/>
            <a:ext cx="682451" cy="70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450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</a:t>
            </a:r>
            <a:endParaRPr lang="en-US" sz="450" dirty="0"/>
          </a:p>
        </p:txBody>
      </p:sp>
      <p:sp>
        <p:nvSpPr>
          <p:cNvPr id="8" name="Shape 5"/>
          <p:cNvSpPr/>
          <p:nvPr/>
        </p:nvSpPr>
        <p:spPr>
          <a:xfrm>
            <a:off x="5015359" y="2928714"/>
            <a:ext cx="305544" cy="114672"/>
          </a:xfrm>
          <a:prstGeom prst="roundRect">
            <a:avLst>
              <a:gd name="adj" fmla="val 21419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b88e23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59189" y="2950592"/>
            <a:ext cx="675084" cy="70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450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PANDAS</a:t>
            </a:r>
            <a:endParaRPr lang="en-US" sz="450" dirty="0"/>
          </a:p>
        </p:txBody>
      </p:sp>
      <p:sp>
        <p:nvSpPr>
          <p:cNvPr id="10" name="Shape 7"/>
          <p:cNvSpPr/>
          <p:nvPr/>
        </p:nvSpPr>
        <p:spPr>
          <a:xfrm>
            <a:off x="5357440" y="2928714"/>
            <a:ext cx="282476" cy="114672"/>
          </a:xfrm>
          <a:prstGeom prst="roundRect">
            <a:avLst>
              <a:gd name="adj" fmla="val 21419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b88e23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401270" y="2950592"/>
            <a:ext cx="652016" cy="70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450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NUMPY</a:t>
            </a:r>
            <a:endParaRPr lang="en-US" sz="450" dirty="0"/>
          </a:p>
        </p:txBody>
      </p:sp>
      <p:sp>
        <p:nvSpPr>
          <p:cNvPr id="12" name="Shape 9"/>
          <p:cNvSpPr/>
          <p:nvPr/>
        </p:nvSpPr>
        <p:spPr>
          <a:xfrm>
            <a:off x="5676454" y="2928714"/>
            <a:ext cx="277044" cy="114672"/>
          </a:xfrm>
          <a:prstGeom prst="roundRect">
            <a:avLst>
              <a:gd name="adj" fmla="val 21419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b88e23">
                <a:alpha val="10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720283" y="2950592"/>
            <a:ext cx="646584" cy="70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450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SQLITE</a:t>
            </a:r>
            <a:endParaRPr lang="en-US" sz="450" dirty="0"/>
          </a:p>
        </p:txBody>
      </p:sp>
      <p:sp>
        <p:nvSpPr>
          <p:cNvPr id="14" name="Shape 11"/>
          <p:cNvSpPr/>
          <p:nvPr/>
        </p:nvSpPr>
        <p:spPr>
          <a:xfrm>
            <a:off x="5990034" y="2928714"/>
            <a:ext cx="283294" cy="114672"/>
          </a:xfrm>
          <a:prstGeom prst="roundRect">
            <a:avLst>
              <a:gd name="adj" fmla="val 21419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b88e23">
                <a:alpha val="10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033864" y="2950592"/>
            <a:ext cx="652835" cy="70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450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PLOTLY</a:t>
            </a:r>
            <a:endParaRPr lang="en-US" sz="450" dirty="0"/>
          </a:p>
        </p:txBody>
      </p:sp>
      <p:sp>
        <p:nvSpPr>
          <p:cNvPr id="16" name="Shape 13"/>
          <p:cNvSpPr/>
          <p:nvPr/>
        </p:nvSpPr>
        <p:spPr>
          <a:xfrm>
            <a:off x="6309866" y="2928714"/>
            <a:ext cx="386209" cy="114672"/>
          </a:xfrm>
          <a:prstGeom prst="roundRect">
            <a:avLst>
              <a:gd name="adj" fmla="val 21419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b88e23">
                <a:alpha val="10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353696" y="2950592"/>
            <a:ext cx="755749" cy="70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450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STREAMLIT</a:t>
            </a:r>
            <a:endParaRPr lang="en-US" sz="450" dirty="0"/>
          </a:p>
        </p:txBody>
      </p:sp>
      <p:sp>
        <p:nvSpPr>
          <p:cNvPr id="18" name="Shape 15"/>
          <p:cNvSpPr/>
          <p:nvPr/>
        </p:nvSpPr>
        <p:spPr>
          <a:xfrm>
            <a:off x="6732612" y="2928714"/>
            <a:ext cx="178445" cy="114672"/>
          </a:xfrm>
          <a:prstGeom prst="roundRect">
            <a:avLst>
              <a:gd name="adj" fmla="val 21419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b88e23">
                <a:alpha val="10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776442" y="2950592"/>
            <a:ext cx="547985" cy="70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450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GIT</a:t>
            </a:r>
            <a:endParaRPr lang="en-US" sz="450" dirty="0"/>
          </a:p>
        </p:txBody>
      </p:sp>
      <p:sp>
        <p:nvSpPr>
          <p:cNvPr id="20" name="Shape 17"/>
          <p:cNvSpPr/>
          <p:nvPr/>
        </p:nvSpPr>
        <p:spPr>
          <a:xfrm>
            <a:off x="6947595" y="2928714"/>
            <a:ext cx="291703" cy="114672"/>
          </a:xfrm>
          <a:prstGeom prst="roundRect">
            <a:avLst>
              <a:gd name="adj" fmla="val 21419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b88e23">
                <a:alpha val="10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991424" y="2950592"/>
            <a:ext cx="661243" cy="70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450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GITHUB</a:t>
            </a:r>
            <a:endParaRPr lang="en-US" sz="450" dirty="0"/>
          </a:p>
        </p:txBody>
      </p:sp>
      <p:sp>
        <p:nvSpPr>
          <p:cNvPr id="22" name="Shape 19"/>
          <p:cNvSpPr/>
          <p:nvPr/>
        </p:nvSpPr>
        <p:spPr>
          <a:xfrm>
            <a:off x="7275835" y="2928714"/>
            <a:ext cx="863129" cy="114672"/>
          </a:xfrm>
          <a:prstGeom prst="roundRect">
            <a:avLst>
              <a:gd name="adj" fmla="val 21419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b88e23">
                <a:alpha val="10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319665" y="2950592"/>
            <a:ext cx="1232669" cy="70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450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WINDOWS TASK SCHEDULER</a:t>
            </a:r>
            <a:endParaRPr lang="en-US" sz="450" dirty="0"/>
          </a:p>
        </p:txBody>
      </p:sp>
      <p:sp>
        <p:nvSpPr>
          <p:cNvPr id="24" name="Shape 21"/>
          <p:cNvSpPr/>
          <p:nvPr/>
        </p:nvSpPr>
        <p:spPr>
          <a:xfrm>
            <a:off x="8175501" y="2928714"/>
            <a:ext cx="250254" cy="114672"/>
          </a:xfrm>
          <a:prstGeom prst="roundRect">
            <a:avLst>
              <a:gd name="adj" fmla="val 21419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b88e23">
                <a:alpha val="10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8219331" y="2950592"/>
            <a:ext cx="619795" cy="70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450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MFAPI</a:t>
            </a:r>
            <a:endParaRPr lang="en-US" sz="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2431"/>
            <a:ext cx="8151763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Architecture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496119" y="840879"/>
            <a:ext cx="8608963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fully automated, end-to-end pipeline — from live API data to an interactive, deployed dashboard.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679" y="1047824"/>
            <a:ext cx="8084567" cy="34862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3714" y="3872930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Processed Data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73714" y="3065926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ETL Pipeline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3714" y="2267073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Raw Ingestion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73714" y="1460068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MFAPI Extract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119" y="4609430"/>
            <a:ext cx="8608963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pipeline runs on a scheduled basis via Windows Task Scheduler, ensuring the dashboard always reflects the most current fund data without manual intervention.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2162"/>
            <a:ext cx="8151763" cy="2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Folder Structure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496119" y="2047056"/>
            <a:ext cx="5224835" cy="222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clean, modular directory structure enforces separation of concerns — making the project maintainable, scalable, and collaboration-ready for team environments.</a:t>
            </a:r>
            <a:endParaRPr lang="en-US" sz="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6456" y="800174"/>
            <a:ext cx="2716113" cy="271611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6119" y="3634606"/>
            <a:ext cx="1998464" cy="590029"/>
          </a:xfrm>
          <a:prstGeom prst="roundRect">
            <a:avLst>
              <a:gd name="adj" fmla="val 6149"/>
            </a:avLst>
          </a:prstGeom>
          <a:solidFill>
            <a:srgbClr val="FFFDFA"/>
          </a:solidFill>
          <a:ln w="9525">
            <a:solidFill>
              <a:srgbClr val="DDD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1964" y="3730451"/>
            <a:ext cx="1806773" cy="139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📁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data/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91964" y="3901678"/>
            <a:ext cx="1806773" cy="227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raw/</a:t>
            </a:r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</a:t>
            </a:r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processed/</a:t>
            </a:r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staged and cleaned datasets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2547193" y="3634606"/>
            <a:ext cx="1998464" cy="590029"/>
          </a:xfrm>
          <a:prstGeom prst="roundRect">
            <a:avLst>
              <a:gd name="adj" fmla="val 6149"/>
            </a:avLst>
          </a:prstGeom>
          <a:solidFill>
            <a:srgbClr val="FFFDFA"/>
          </a:solidFill>
          <a:ln w="9525">
            <a:solidFill>
              <a:srgbClr val="DDD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643039" y="3730451"/>
            <a:ext cx="1806773" cy="139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📁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db/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2643039" y="3901678"/>
            <a:ext cx="1806773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SQLite database files and schema migrations</a:t>
            </a:r>
            <a:endParaRPr lang="en-US" sz="650" dirty="0"/>
          </a:p>
        </p:txBody>
      </p:sp>
      <p:sp>
        <p:nvSpPr>
          <p:cNvPr id="11" name="Shape 8"/>
          <p:cNvSpPr/>
          <p:nvPr/>
        </p:nvSpPr>
        <p:spPr>
          <a:xfrm>
            <a:off x="4598268" y="3634606"/>
            <a:ext cx="1998464" cy="590029"/>
          </a:xfrm>
          <a:prstGeom prst="roundRect">
            <a:avLst>
              <a:gd name="adj" fmla="val 6149"/>
            </a:avLst>
          </a:prstGeom>
          <a:solidFill>
            <a:srgbClr val="FFFDFA"/>
          </a:solidFill>
          <a:ln w="9525">
            <a:solidFill>
              <a:srgbClr val="DDD3B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94113" y="3730451"/>
            <a:ext cx="1806773" cy="139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📁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scripts/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694113" y="3901678"/>
            <a:ext cx="1806773" cy="222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ETL automation, data processing, and metric calculation scripts</a:t>
            </a:r>
            <a:endParaRPr lang="en-US" sz="650" dirty="0"/>
          </a:p>
        </p:txBody>
      </p:sp>
      <p:sp>
        <p:nvSpPr>
          <p:cNvPr id="14" name="Shape 11"/>
          <p:cNvSpPr/>
          <p:nvPr/>
        </p:nvSpPr>
        <p:spPr>
          <a:xfrm>
            <a:off x="6649343" y="3634606"/>
            <a:ext cx="1998538" cy="590029"/>
          </a:xfrm>
          <a:prstGeom prst="roundRect">
            <a:avLst>
              <a:gd name="adj" fmla="val 6149"/>
            </a:avLst>
          </a:prstGeom>
          <a:solidFill>
            <a:srgbClr val="FFFDFA"/>
          </a:solidFill>
          <a:ln w="9525">
            <a:solidFill>
              <a:srgbClr val="DDD3B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45188" y="3730451"/>
            <a:ext cx="1806848" cy="139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📁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sql/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745188" y="3901678"/>
            <a:ext cx="1806848" cy="222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DDL and DML queries for database management</a:t>
            </a:r>
            <a:endParaRPr lang="en-US" sz="650" dirty="0"/>
          </a:p>
        </p:txBody>
      </p:sp>
      <p:sp>
        <p:nvSpPr>
          <p:cNvPr id="17" name="Shape 14"/>
          <p:cNvSpPr/>
          <p:nvPr/>
        </p:nvSpPr>
        <p:spPr>
          <a:xfrm>
            <a:off x="496119" y="4277246"/>
            <a:ext cx="4049539" cy="474092"/>
          </a:xfrm>
          <a:prstGeom prst="roundRect">
            <a:avLst>
              <a:gd name="adj" fmla="val 7653"/>
            </a:avLst>
          </a:prstGeom>
          <a:solidFill>
            <a:srgbClr val="FFFDFA"/>
          </a:solidFill>
          <a:ln w="9525">
            <a:solidFill>
              <a:srgbClr val="DDD3B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1964" y="4373091"/>
            <a:ext cx="3857848" cy="139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📁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streamlit_app/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91964" y="4544318"/>
            <a:ext cx="3857848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Dashboard Python app, layout, and visualization modules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4598268" y="4277246"/>
            <a:ext cx="4049613" cy="474092"/>
          </a:xfrm>
          <a:prstGeom prst="roundRect">
            <a:avLst>
              <a:gd name="adj" fmla="val 7653"/>
            </a:avLst>
          </a:prstGeom>
          <a:solidFill>
            <a:srgbClr val="FFFDFA"/>
          </a:solidFill>
          <a:ln w="9525">
            <a:solidFill>
              <a:srgbClr val="DDD3B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94113" y="4373091"/>
            <a:ext cx="3857923" cy="139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📄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README · requirements.txt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694113" y="4544318"/>
            <a:ext cx="3857923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documentation and dependency management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9776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ETL Pipeline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24273"/>
            <a:ext cx="2717229" cy="5670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7877" y="2033067"/>
            <a:ext cx="24337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Extraction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37877" y="2339578"/>
            <a:ext cx="243371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Pull live fund data via MFAPI — NAV, AUM, and holdings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348" y="1324273"/>
            <a:ext cx="2717229" cy="5670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55107" y="2033067"/>
            <a:ext cx="24337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Transformation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355107" y="2339578"/>
            <a:ext cx="243371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Clean, normalize, and compute derived financial metrics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578" y="1324273"/>
            <a:ext cx="2717229" cy="5670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72336" y="2033067"/>
            <a:ext cx="24337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Loading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72336" y="2339578"/>
            <a:ext cx="243371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Write validated records into SQLite dimensional schema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2934965"/>
            <a:ext cx="2717229" cy="56703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7877" y="3643759"/>
            <a:ext cx="24337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Validation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37877" y="3950271"/>
            <a:ext cx="243371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Automated quality checks — nulls, duplicates, range bounds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3348" y="2934965"/>
            <a:ext cx="2717229" cy="56703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355107" y="3643759"/>
            <a:ext cx="24337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Automation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355107" y="3950271"/>
            <a:ext cx="243371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Scheduled via Windows Task Scheduler for zero-touch runs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Design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2542580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Star Schema Model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96119" y="2688729"/>
            <a:ext cx="398941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normalized star schema separates dimensions from facts — enabling efficient queries, referential integrity, and scalable analytics across fund performance data.</a:t>
            </a:r>
            <a:endParaRPr lang="en-US" sz="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232" y="704255"/>
            <a:ext cx="3989412" cy="39894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6119" y="4773290"/>
            <a:ext cx="2011338" cy="368201"/>
          </a:xfrm>
          <a:prstGeom prst="roundRect">
            <a:avLst>
              <a:gd name="adj" fmla="val 8086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723" y="4848895"/>
            <a:ext cx="186012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dim_fund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571723" y="4980831"/>
            <a:ext cx="186012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Fund name, category, AMC, inception date, risk profile</a:t>
            </a:r>
            <a:endParaRPr lang="en-US" sz="550" dirty="0"/>
          </a:p>
        </p:txBody>
      </p:sp>
      <p:sp>
        <p:nvSpPr>
          <p:cNvPr id="9" name="Shape 6"/>
          <p:cNvSpPr/>
          <p:nvPr/>
        </p:nvSpPr>
        <p:spPr>
          <a:xfrm>
            <a:off x="2542877" y="4773290"/>
            <a:ext cx="2011412" cy="368201"/>
          </a:xfrm>
          <a:prstGeom prst="roundRect">
            <a:avLst>
              <a:gd name="adj" fmla="val 8086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18482" y="4848895"/>
            <a:ext cx="186020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fact_nav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2618482" y="4980831"/>
            <a:ext cx="186020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Daily NAV values indexed by fund_id and date</a:t>
            </a:r>
            <a:endParaRPr lang="en-US" sz="550" dirty="0"/>
          </a:p>
        </p:txBody>
      </p:sp>
      <p:sp>
        <p:nvSpPr>
          <p:cNvPr id="12" name="Shape 9"/>
          <p:cNvSpPr/>
          <p:nvPr/>
        </p:nvSpPr>
        <p:spPr>
          <a:xfrm>
            <a:off x="4589711" y="4773290"/>
            <a:ext cx="2011338" cy="368201"/>
          </a:xfrm>
          <a:prstGeom prst="roundRect">
            <a:avLst>
              <a:gd name="adj" fmla="val 8086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65315" y="4848895"/>
            <a:ext cx="186012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fact_performance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4665315" y="4980831"/>
            <a:ext cx="186012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Returns, Sharpe, Sortino, Alpha, Beta, volatility</a:t>
            </a:r>
            <a:endParaRPr lang="en-US" sz="550" dirty="0"/>
          </a:p>
        </p:txBody>
      </p:sp>
      <p:sp>
        <p:nvSpPr>
          <p:cNvPr id="15" name="Shape 12"/>
          <p:cNvSpPr/>
          <p:nvPr/>
        </p:nvSpPr>
        <p:spPr>
          <a:xfrm>
            <a:off x="6636469" y="4773290"/>
            <a:ext cx="2011412" cy="368201"/>
          </a:xfrm>
          <a:prstGeom prst="roundRect">
            <a:avLst>
              <a:gd name="adj" fmla="val 8086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12074" y="4848895"/>
            <a:ext cx="186020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fact_aum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6712074" y="4980831"/>
            <a:ext cx="186020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Assets under management tracked over time</a:t>
            </a:r>
            <a:endParaRPr lang="en-US" sz="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1985"/>
            <a:ext cx="8151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Financial Metrics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6119" y="1051322"/>
            <a:ext cx="860896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 KPIs computed across all funds — enabling rigorous, apples-to-apples performance comparison.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96119" y="1387673"/>
            <a:ext cx="4015606" cy="748085"/>
          </a:xfrm>
          <a:prstGeom prst="roundRect">
            <a:avLst>
              <a:gd name="adj" fmla="val 7337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1552" y="1523107"/>
            <a:ext cx="374473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31552" y="1799481"/>
            <a:ext cx="374473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Absolute and annualized fund returns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32201" y="1387673"/>
            <a:ext cx="4015680" cy="748085"/>
          </a:xfrm>
          <a:prstGeom prst="roundRect">
            <a:avLst>
              <a:gd name="adj" fmla="val 7337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67635" y="1523107"/>
            <a:ext cx="3744813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Sharpe Ratio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67635" y="1799481"/>
            <a:ext cx="374481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Risk-adjusted return per unit of total volatility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6119" y="2256234"/>
            <a:ext cx="4015606" cy="748085"/>
          </a:xfrm>
          <a:prstGeom prst="roundRect">
            <a:avLst>
              <a:gd name="adj" fmla="val 7337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1552" y="2391668"/>
            <a:ext cx="374473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Sortino Ratio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1552" y="2668042"/>
            <a:ext cx="374473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Downside risk-adjusted return metric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32201" y="2256234"/>
            <a:ext cx="4015680" cy="748085"/>
          </a:xfrm>
          <a:prstGeom prst="roundRect">
            <a:avLst>
              <a:gd name="adj" fmla="val 7337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67635" y="2391668"/>
            <a:ext cx="3744813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Alpha &amp; Beta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67635" y="2668042"/>
            <a:ext cx="374481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Outperformance vs. benchmark and market sensitivity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6119" y="3124795"/>
            <a:ext cx="4015606" cy="748085"/>
          </a:xfrm>
          <a:prstGeom prst="roundRect">
            <a:avLst>
              <a:gd name="adj" fmla="val 7337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1552" y="3260229"/>
            <a:ext cx="374473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Volatility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1552" y="3536603"/>
            <a:ext cx="374473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Standard deviation of fund returns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32201" y="3124795"/>
            <a:ext cx="4015680" cy="748085"/>
          </a:xfrm>
          <a:prstGeom prst="roundRect">
            <a:avLst>
              <a:gd name="adj" fmla="val 7337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67635" y="3260229"/>
            <a:ext cx="3744813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Max Drawdown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767635" y="3536603"/>
            <a:ext cx="374481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Largest peak-to-trough decline in fund value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6119" y="3993356"/>
            <a:ext cx="4015606" cy="748085"/>
          </a:xfrm>
          <a:prstGeom prst="roundRect">
            <a:avLst>
              <a:gd name="adj" fmla="val 7337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1552" y="4128790"/>
            <a:ext cx="374473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Expense Ratio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31552" y="4405164"/>
            <a:ext cx="374473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Annual cost as a percentage of AUM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32201" y="3993356"/>
            <a:ext cx="4015680" cy="748085"/>
          </a:xfrm>
          <a:prstGeom prst="roundRect">
            <a:avLst>
              <a:gd name="adj" fmla="val 7337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67635" y="4128790"/>
            <a:ext cx="3744813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AUM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767635" y="4405164"/>
            <a:ext cx="374481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assets under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94990"/>
            <a:ext cx="4722763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Dashboard &amp; Key Insights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496119" y="858813"/>
            <a:ext cx="4722763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Streamlit dashboard transforms complex fund data into clear, actionable visuals — enabling rapid comparison and confident investment decisions.</a:t>
            </a:r>
            <a:endParaRPr lang="en-US" sz="8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258863"/>
            <a:ext cx="271314" cy="27131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96119" y="1633984"/>
            <a:ext cx="472276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Fund Performance Comparison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496119" y="1853357"/>
            <a:ext cx="4722763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Interactive charts comparing returns, risk metrics, and AUM across funds and categories</a:t>
            </a:r>
            <a:endParaRPr lang="en-US" sz="8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172816"/>
            <a:ext cx="271314" cy="27131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6119" y="2547938"/>
            <a:ext cx="472276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Ranking &amp; Selection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496119" y="2767310"/>
            <a:ext cx="4722763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Dynamic fund rankings by Sharpe Ratio, Alpha, and risk profile for targeted selection</a:t>
            </a:r>
            <a:endParaRPr lang="en-US" sz="8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086770"/>
            <a:ext cx="271314" cy="27131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96119" y="3461891"/>
            <a:ext cx="472276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Portfolio Allocation</a:t>
            </a:r>
            <a:endParaRPr lang="en-US" sz="1050" dirty="0"/>
          </a:p>
        </p:txBody>
      </p:sp>
      <p:sp>
        <p:nvSpPr>
          <p:cNvPr id="13" name="Text 7"/>
          <p:cNvSpPr/>
          <p:nvPr/>
        </p:nvSpPr>
        <p:spPr>
          <a:xfrm>
            <a:off x="496119" y="3681264"/>
            <a:ext cx="4722763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Visual breakdown of optimal fund allocation based on performance and risk tolerance</a:t>
            </a:r>
            <a:endParaRPr lang="en-US" sz="8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6119" y="4000723"/>
            <a:ext cx="271314" cy="27131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96119" y="4375845"/>
            <a:ext cx="472276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Live Deployment</a:t>
            </a:r>
            <a:endParaRPr lang="en-US" sz="1050" dirty="0"/>
          </a:p>
        </p:txBody>
      </p:sp>
      <p:sp>
        <p:nvSpPr>
          <p:cNvPr id="16" name="Text 9"/>
          <p:cNvSpPr/>
          <p:nvPr/>
        </p:nvSpPr>
        <p:spPr>
          <a:xfrm>
            <a:off x="496119" y="4595217"/>
            <a:ext cx="4722763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Automated pipeline ensures the dashboard reflects the most current fund data at all times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2026-07-08T16:46:05Z</dcterms:created>
  <dcterms:modified xsi:type="dcterms:W3CDTF">2026-07-08T16:46:05Z</dcterms:modified>
</cp:coreProperties>
</file>